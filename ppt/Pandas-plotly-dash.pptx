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5"/>
    <p:sldId id="641" r:id="rId6"/>
    <p:sldId id="391" r:id="rId7"/>
    <p:sldId id="588" r:id="rId8"/>
    <p:sldId id="660" r:id="rId9"/>
    <p:sldId id="278" r:id="rId10"/>
    <p:sldId id="662" r:id="rId11"/>
    <p:sldId id="274" r:id="rId12"/>
    <p:sldId id="275" r:id="rId13"/>
    <p:sldId id="276" r:id="rId14"/>
    <p:sldId id="680" r:id="rId15"/>
    <p:sldId id="681" r:id="rId16"/>
    <p:sldId id="695" r:id="rId17"/>
    <p:sldId id="696" r:id="rId18"/>
    <p:sldId id="692" r:id="rId19"/>
    <p:sldId id="697" r:id="rId20"/>
    <p:sldId id="698" r:id="rId21"/>
    <p:sldId id="699" r:id="rId22"/>
    <p:sldId id="700" r:id="rId23"/>
    <p:sldId id="701" r:id="rId24"/>
    <p:sldId id="702" r:id="rId25"/>
    <p:sldId id="669" r:id="rId26"/>
    <p:sldId id="664" r:id="rId27"/>
    <p:sldId id="665" r:id="rId28"/>
    <p:sldId id="666" r:id="rId29"/>
    <p:sldId id="667" r:id="rId30"/>
    <p:sldId id="703" r:id="rId31"/>
    <p:sldId id="704" r:id="rId32"/>
    <p:sldId id="661" r:id="rId33"/>
    <p:sldId id="663" r:id="rId34"/>
    <p:sldId id="707" r:id="rId35"/>
    <p:sldId id="705" r:id="rId36"/>
    <p:sldId id="283" r:id="rId3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8E9CCB-1DB8-AF7D-D578-D9F8054DC64F}" name="Roberto Esteves" initials="RE" userId="39f7bd680ac0515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712" autoAdjust="0"/>
  </p:normalViewPr>
  <p:slideViewPr>
    <p:cSldViewPr snapToGrid="0">
      <p:cViewPr>
        <p:scale>
          <a:sx n="94" d="100"/>
          <a:sy n="94" d="100"/>
        </p:scale>
        <p:origin x="276" y="27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4371"/>
    </p:cViewPr>
  </p:sorterViewPr>
  <p:notesViewPr>
    <p:cSldViewPr snapToGrid="0" showGuides="1">
      <p:cViewPr varScale="1">
        <p:scale>
          <a:sx n="88" d="100"/>
          <a:sy n="88" d="100"/>
        </p:scale>
        <p:origin x="381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2BC10188-DC2C-458D-AB41-143A0BE9A3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9634E15-7196-43FC-B912-C4D8B4A2CE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64683E8-0568-49C4-9C2E-54ABAE740D5B}" type="datetime1">
              <a:rPr lang="es-ES" smtClean="0"/>
              <a:t>29/01/2026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EA2570-D5B6-41CB-96C2-FFC9944668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15C31B37-7A69-4C30-9B63-29F8242FC2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389B6C8-888A-401B-9F9B-D41D36B6C3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31000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589F6-463E-4F8A-9661-013CBCA5CB6B}" type="datetime1">
              <a:rPr lang="es-ES" smtClean="0"/>
              <a:pPr/>
              <a:t>29/01/2026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3F28A1F-3E69-47E5-AE93-E7F2155A242D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759332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3F28A1F-3E69-47E5-AE93-E7F2155A242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519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fdc22cb87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fdc22cb87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104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rtlCol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2653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rtlCol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2641ECAC-0557-4843-8433-067E4414E2F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7512001" cy="6727855"/>
          </a:xfrm>
          <a:solidFill>
            <a:schemeClr val="tx1">
              <a:lumMod val="85000"/>
              <a:lumOff val="1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Inserte su imagen aquí</a:t>
            </a:r>
          </a:p>
        </p:txBody>
      </p:sp>
    </p:spTree>
    <p:extLst>
      <p:ext uri="{BB962C8B-B14F-4D97-AF65-F5344CB8AC3E}">
        <p14:creationId xmlns:p14="http://schemas.microsoft.com/office/powerpoint/2010/main" val="33943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00"/>
            <a:ext cx="6273800" cy="1449216"/>
          </a:xfrm>
          <a:solidFill>
            <a:schemeClr val="accent2">
              <a:lumMod val="50000"/>
            </a:schemeClr>
          </a:solidFill>
        </p:spPr>
        <p:txBody>
          <a:bodyPr tIns="108000" bIns="108000" rtlCol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380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3923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 anchos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01"/>
            <a:ext cx="6273800" cy="1449216"/>
          </a:xfrm>
          <a:solidFill>
            <a:schemeClr val="accent2">
              <a:lumMod val="50000"/>
            </a:schemeClr>
          </a:solidFill>
        </p:spPr>
        <p:txBody>
          <a:bodyPr vert="horz" lIns="91440" tIns="108000" rIns="91440" bIns="108000" rtlCol="0" anchor="ctr">
            <a:spAutoFit/>
          </a:bodyPr>
          <a:lstStyle>
            <a:lvl1pPr>
              <a:defRPr lang="en-US" sz="4000"/>
            </a:lvl1pPr>
          </a:lstStyle>
          <a:p>
            <a:pPr lvl="0" rtl="0">
              <a:lnSpc>
                <a:spcPct val="100000"/>
              </a:lnSpc>
            </a:pPr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94571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de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6D3C5ED2-B01D-4104-B193-BC78D76A464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6305550" cy="6721475"/>
          </a:xfrm>
          <a:noFill/>
        </p:spPr>
        <p:txBody>
          <a:bodyPr rtlCol="0"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Inserte su imagen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7974" y="303301"/>
            <a:ext cx="4695825" cy="1449216"/>
          </a:xfrm>
          <a:solidFill>
            <a:schemeClr val="accent2">
              <a:lumMod val="50000"/>
            </a:schemeClr>
          </a:solidFill>
        </p:spPr>
        <p:txBody>
          <a:bodyPr wrap="square" tIns="108000" bIns="108000" rtlCol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pPr rtl="0"/>
            <a:r>
              <a:rPr lang="es-ES" noProof="0"/>
              <a:t>Editar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974" y="1825625"/>
            <a:ext cx="4695826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9790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: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305300" cy="6721472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vert="horz" lIns="396000" tIns="0" rIns="396000" bIns="0" rtlCol="0" anchor="ctr">
            <a:noAutofit/>
          </a:bodyPr>
          <a:lstStyle>
            <a:lvl1pPr algn="ctr">
              <a:lnSpc>
                <a:spcPct val="70000"/>
              </a:lnSpc>
              <a:defRPr lang="en-US" sz="5200" b="0" spc="-150" dirty="0"/>
            </a:lvl1pPr>
          </a:lstStyle>
          <a:p>
            <a:pPr lvl="0" algn="r"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365124"/>
            <a:ext cx="6648448" cy="5984875"/>
          </a:xfrm>
        </p:spPr>
        <p:txBody>
          <a:bodyPr lIns="108000" tIns="108000" rIns="108000" bIns="108000"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/>
              <a:t>PÁGINA </a:t>
            </a:r>
            <a:fld id="{4A9B5881-4007-4345-955A-79C2656F0C49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049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: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65237DA4-112F-40B2-8C8C-EB23506D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00" y="0"/>
            <a:ext cx="4680000" cy="6721473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lIns="396000" rIns="396000" rtlCol="0">
            <a:normAutofit/>
          </a:bodyPr>
          <a:lstStyle>
            <a:lvl1pPr>
              <a:lnSpc>
                <a:spcPct val="70000"/>
              </a:lnSpc>
              <a:defRPr sz="5200" spc="-15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4"/>
            <a:ext cx="6156323" cy="5984875"/>
          </a:xfrm>
        </p:spPr>
        <p:txBody>
          <a:bodyPr lIns="108000" tIns="108000" rIns="108000" bIns="108000" rtlCol="0" anchor="ctr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solidFill>
            <a:schemeClr val="bg1">
              <a:lumMod val="85000"/>
            </a:schemeClr>
          </a:solidFill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449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: 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Marcador de posición de contenido 2">
            <a:extLst>
              <a:ext uri="{FF2B5EF4-FFF2-40B4-BE49-F238E27FC236}">
                <a16:creationId xmlns:a16="http://schemas.microsoft.com/office/drawing/2014/main" id="{D68E6EF2-4B2F-4D0D-9505-CE9287297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611076"/>
            <a:ext cx="6648448" cy="5738923"/>
          </a:xfrm>
        </p:spPr>
        <p:txBody>
          <a:bodyPr lIns="108000" tIns="108000" rIns="108000" bIns="10800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91A21B9-BA54-413B-940E-027C32E4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3440502" cy="2680322"/>
          </a:xfrm>
          <a:solidFill>
            <a:schemeClr val="accent2">
              <a:lumMod val="50000"/>
            </a:schemeClr>
          </a:solidFill>
        </p:spPr>
        <p:txBody>
          <a:bodyPr wrap="square" tIns="108000" bIns="108000" rtlCol="0" anchor="t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1005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2BDA7-8BE9-42D5-ACF1-0F51423A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CEF73F-3CCA-4312-8E9C-2B4629DA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3BF716-502C-4821-A3A0-19C2C508E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6598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AB651-5612-4E6A-9B35-A555D082EC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1389A2-D77B-40CA-AD1E-0178AEFA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A1DCA993-CBEA-48C5-BD35-50ABDFF6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8ED8E0-95EC-469F-9B7E-562FBDFDE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4634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76F88-2A37-410D-A685-E455AF3D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764B46-B015-44F7-8DC0-AFB8D275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D3C8232-2077-497A-9142-B787E2B03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AAF6077C-D913-4FD0-B6E0-6D70BEFD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43905DBB-3AA9-4435-AC97-732293FDE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54C901-FCAF-4DFB-A621-6A969641C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92145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F2623-2255-4BBA-9577-B3A3FD2A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259F0F0-5E7C-4FC9-8E90-6ADCD7A71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553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A9D3FFB-BE14-4D90-A515-10EDD1BEE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27673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51E51-BE82-4B1B-9CB6-89C26464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04CCBF8C-3CF7-47E6-9AB0-15584178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3D07DA3C-0298-45CF-AFC3-41031C07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C4FF87-D01E-416B-9EF8-E107C4EDD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853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s-EC" smtClean="0"/>
              <a:pPr algn="r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48363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s-EC" smtClean="0"/>
              <a:pPr algn="r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5439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48E4AFE-E166-4B84-B0C8-9205038D8033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617517-B672-49BA-AC6E-AB66D063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C92C27-7843-4B22-9200-B7304E6A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5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B4F10-F75B-41A8-B994-BFF68949E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61475"/>
            <a:ext cx="838200" cy="36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12D21E2-8DEB-4F43-A26E-B8DA900A923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CD3143-7FD1-40EA-AA4A-47C72380AEC2}"/>
              </a:ext>
            </a:extLst>
          </p:cNvPr>
          <p:cNvSpPr/>
          <p:nvPr userDrawn="1"/>
        </p:nvSpPr>
        <p:spPr>
          <a:xfrm>
            <a:off x="11353798" y="6721474"/>
            <a:ext cx="838201" cy="136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5392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9" r:id="rId2"/>
    <p:sldLayoutId id="2147483660" r:id="rId3"/>
    <p:sldLayoutId id="2147483665" r:id="rId4"/>
    <p:sldLayoutId id="2147483666" r:id="rId5"/>
    <p:sldLayoutId id="2147483650" r:id="rId6"/>
    <p:sldLayoutId id="2147483663" r:id="rId7"/>
    <p:sldLayoutId id="2147483664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67" r:id="rId15"/>
    <p:sldLayoutId id="214748366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svg"/><Relationship Id="rId10" Type="http://schemas.openxmlformats.org/officeDocument/2006/relationships/hyperlink" Target="https://medium.com/@restevesd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ghts.stackoverflow.com/survey/2020#technology-most-loved-dreaded-and-wanted-languages-wanted" TargetMode="External"/><Relationship Id="rId2" Type="http://schemas.openxmlformats.org/officeDocument/2006/relationships/hyperlink" Target="https://medium.com/codica/top-8-most-in-demand-programming-languages-for-2021-50cd4c3a8c34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Python" TargetMode="External"/><Relationship Id="rId2" Type="http://schemas.openxmlformats.org/officeDocument/2006/relationships/hyperlink" Target="https://es.wikipedia.org/wiki/Historia_de_Pyth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learn/paths/introduction-python-space-exploration-nasa/" TargetMode="External"/><Relationship Id="rId7" Type="http://schemas.openxmlformats.org/officeDocument/2006/relationships/hyperlink" Target="https://www.quora.com/Why-did-Quora-choose-Python-for-its-development-What-technological-challenges-did-the-founders-face-before-they-decided-to-go-with-Python-rather-than-PHP/answers/65731?srid=vt0q" TargetMode="External"/><Relationship Id="rId2" Type="http://schemas.openxmlformats.org/officeDocument/2006/relationships/hyperlink" Target="https://www.escuelapython.com/grandes-proyectos-hechos-python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etflixtechblog.com/python-at-netflix-86b6028b3b3e" TargetMode="External"/><Relationship Id="rId5" Type="http://schemas.openxmlformats.org/officeDocument/2006/relationships/hyperlink" Target="https://www.python.org/about/success/usa/" TargetMode="External"/><Relationship Id="rId4" Type="http://schemas.openxmlformats.org/officeDocument/2006/relationships/hyperlink" Target="https://thelead.io/data-science/companies-that-uses-pyth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khuyentran1401.github.io/Efficient_Python_tricks_and_tools_for_data_scientists/README.html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10C5037-DA4A-44E2-A9FB-84B14987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sz="5400" dirty="0"/>
              <a:t>Manipulación y Visualizaciones de Datos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397C2DB-90F2-4971-AC44-7CDDF5A3B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r>
              <a:rPr lang="es-ES" dirty="0"/>
              <a:t>#Python #Plotly #Pandas #numpy #Matplotlib #IA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26F5C050-EB87-421A-8A5C-E6CB30102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s-ES"/>
              <a:t>PÁGINA </a:t>
            </a:r>
            <a:fld id="{4A9B5881-4007-4345-955A-79C2656F0C49}" type="slidenum">
              <a:rPr lang="es-ES" smtClean="0"/>
              <a:pPr/>
              <a:t>1</a:t>
            </a:fld>
            <a:endParaRPr lang="es-ES"/>
          </a:p>
        </p:txBody>
      </p:sp>
      <p:pic>
        <p:nvPicPr>
          <p:cNvPr id="29" name="Marcador de posición de imagen 28" descr="Joven estudiante dibujando en una pizarra">
            <a:extLst>
              <a:ext uri="{FF2B5EF4-FFF2-40B4-BE49-F238E27FC236}">
                <a16:creationId xmlns:a16="http://schemas.microsoft.com/office/drawing/2014/main" id="{AE2FE2E9-1D1E-404B-A659-DD19B5D66B5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36250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0B4557D-C926-4666-8417-762DF145655F}"/>
              </a:ext>
            </a:extLst>
          </p:cNvPr>
          <p:cNvSpPr txBox="1"/>
          <p:nvPr/>
        </p:nvSpPr>
        <p:spPr>
          <a:xfrm>
            <a:off x="1222373" y="518460"/>
            <a:ext cx="2856744" cy="584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199" dirty="0"/>
              <a:t>Roberto Esteves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BF8119-75CD-42D2-B26D-74A984D52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194" y="0"/>
            <a:ext cx="6844399" cy="685353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72F74F8-DE3D-4D35-9960-9323B598A6E4}"/>
              </a:ext>
            </a:extLst>
          </p:cNvPr>
          <p:cNvSpPr/>
          <p:nvPr/>
        </p:nvSpPr>
        <p:spPr>
          <a:xfrm>
            <a:off x="6705205" y="2231"/>
            <a:ext cx="5482831" cy="6853539"/>
          </a:xfrm>
          <a:prstGeom prst="rect">
            <a:avLst/>
          </a:prstGeom>
          <a:solidFill>
            <a:srgbClr val="603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39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3A814A2-F905-48DF-BE34-65EA7DF7018F}"/>
              </a:ext>
            </a:extLst>
          </p:cNvPr>
          <p:cNvSpPr/>
          <p:nvPr/>
        </p:nvSpPr>
        <p:spPr>
          <a:xfrm>
            <a:off x="4918545" y="159566"/>
            <a:ext cx="7269491" cy="681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Sub director de la SEE Núcleo del Guayas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SMCP – POCP – IMCP – DTCP – DMCP - SFCP 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Design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Thinking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ESAN – IBM  - PLATZI – Casa Grande 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Director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WakeupBrain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Academy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Ecuador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Science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certificado IBM, SEE,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Platzi</a:t>
            </a:r>
            <a:endParaRPr lang="es-EC" sz="23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Mkt Digital INDEG – TEC Monterrey – IDE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Nanodegree Data Science - NPL Udacity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Instructor ODM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Mentor en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Disrupt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Challenge</a:t>
            </a:r>
            <a:endParaRPr lang="es-EC" sz="23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Consultor de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Fundapi</a:t>
            </a:r>
            <a:endParaRPr lang="es-EC" sz="23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Instructor en la SEE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Fellow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AI </a:t>
            </a:r>
            <a:r>
              <a:rPr lang="es-EC" sz="23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Saturday</a:t>
            </a:r>
            <a:r>
              <a:rPr lang="es-EC" sz="23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Subgerente</a:t>
            </a:r>
            <a:r>
              <a:rPr lang="en-US" sz="2300" dirty="0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Mercadeo</a:t>
            </a:r>
            <a:r>
              <a:rPr lang="en-US" sz="2300" dirty="0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Banco Guayaquil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Gerente</a:t>
            </a:r>
            <a:r>
              <a:rPr lang="en-US" sz="2300" dirty="0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TI Grupo </a:t>
            </a: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Granasa</a:t>
            </a:r>
            <a:endParaRPr lang="en-US" sz="2300" dirty="0">
              <a:solidFill>
                <a:srgbClr val="FFFF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Gerente</a:t>
            </a:r>
            <a:r>
              <a:rPr lang="en-US" sz="2300" dirty="0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Innovación</a:t>
            </a:r>
            <a:r>
              <a:rPr lang="en-US" sz="2300" dirty="0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Eclipdata</a:t>
            </a:r>
          </a:p>
          <a:p>
            <a:pPr marL="989913" lvl="1" indent="-380736"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Gerente</a:t>
            </a:r>
            <a:r>
              <a:rPr lang="en-US" sz="2300" dirty="0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General </a:t>
            </a:r>
            <a:r>
              <a:rPr lang="en-US" sz="2300" dirty="0" err="1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Masapp</a:t>
            </a:r>
            <a:endParaRPr lang="en-US" sz="2300" dirty="0">
              <a:solidFill>
                <a:srgbClr val="FFFF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09178" lvl="1"/>
            <a:endParaRPr lang="es-EC" sz="23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1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DA35EF7D-BB48-471E-B87D-5F286E27E39D}"/>
              </a:ext>
            </a:extLst>
          </p:cNvPr>
          <p:cNvSpPr txBox="1"/>
          <p:nvPr/>
        </p:nvSpPr>
        <p:spPr>
          <a:xfrm>
            <a:off x="3269630" y="1481618"/>
            <a:ext cx="211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400" dirty="0">
                <a:solidFill>
                  <a:schemeClr val="bg1"/>
                </a:solidFill>
              </a:rPr>
              <a:t>@</a:t>
            </a:r>
            <a:r>
              <a:rPr lang="es-EC" sz="1400" dirty="0" err="1">
                <a:solidFill>
                  <a:schemeClr val="bg1"/>
                </a:solidFill>
              </a:rPr>
              <a:t>roberto.esteves.delgado</a:t>
            </a:r>
            <a:endParaRPr lang="es-EC" sz="1400" dirty="0">
              <a:solidFill>
                <a:schemeClr val="bg1"/>
              </a:solidFill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47DA2098-AE82-420E-AEB2-903E7A08E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15" y="2785039"/>
            <a:ext cx="1050031" cy="1050031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5897798F-C68C-4856-9314-ED32D26064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6254" y="2831175"/>
            <a:ext cx="1050031" cy="1050031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9199B5D2-67FD-4A63-BAF6-326E2B3A2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3659" y="1245946"/>
            <a:ext cx="1050031" cy="1050031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9C2C14C7-B54E-4A37-8EDA-37E62FA580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97547" y="1137278"/>
            <a:ext cx="1050029" cy="1050029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80732668-A105-4F63-A973-3FF38B581D10}"/>
              </a:ext>
            </a:extLst>
          </p:cNvPr>
          <p:cNvSpPr/>
          <p:nvPr/>
        </p:nvSpPr>
        <p:spPr>
          <a:xfrm>
            <a:off x="8243671" y="3107805"/>
            <a:ext cx="15261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400" dirty="0">
                <a:solidFill>
                  <a:schemeClr val="bg1"/>
                </a:solidFill>
              </a:rPr>
              <a:t>/in/</a:t>
            </a:r>
            <a:r>
              <a:rPr lang="es-EC" sz="1400" dirty="0" err="1">
                <a:solidFill>
                  <a:schemeClr val="bg1"/>
                </a:solidFill>
              </a:rPr>
              <a:t>restevesd</a:t>
            </a:r>
            <a:r>
              <a:rPr lang="es-EC" sz="14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FE9D9BF-C977-4BDA-8C1B-B50A57C5C0F9}"/>
              </a:ext>
            </a:extLst>
          </p:cNvPr>
          <p:cNvSpPr/>
          <p:nvPr/>
        </p:nvSpPr>
        <p:spPr>
          <a:xfrm>
            <a:off x="8254963" y="1481618"/>
            <a:ext cx="8602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400" dirty="0">
                <a:solidFill>
                  <a:schemeClr val="bg1"/>
                </a:solidFill>
              </a:rPr>
              <a:t>/</a:t>
            </a:r>
            <a:r>
              <a:rPr lang="es-EC" sz="1400" dirty="0" err="1">
                <a:solidFill>
                  <a:schemeClr val="bg1"/>
                </a:solidFill>
              </a:rPr>
              <a:t>resteves</a:t>
            </a:r>
            <a:endParaRPr lang="es-EC" sz="1400" dirty="0">
              <a:solidFill>
                <a:schemeClr val="bg1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288F8DF-39AA-418F-B396-A93FD63B0D75}"/>
              </a:ext>
            </a:extLst>
          </p:cNvPr>
          <p:cNvSpPr/>
          <p:nvPr/>
        </p:nvSpPr>
        <p:spPr>
          <a:xfrm>
            <a:off x="3539609" y="3107806"/>
            <a:ext cx="10461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400" dirty="0">
                <a:solidFill>
                  <a:schemeClr val="bg1"/>
                </a:solidFill>
              </a:rPr>
              <a:t>@</a:t>
            </a:r>
            <a:r>
              <a:rPr lang="es-EC" sz="1400" dirty="0" err="1">
                <a:solidFill>
                  <a:schemeClr val="bg1"/>
                </a:solidFill>
              </a:rPr>
              <a:t>restevesd</a:t>
            </a:r>
            <a:endParaRPr lang="es-EC" sz="1400" dirty="0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4CBA19-A869-4E47-B8E4-03C17A32B11C}"/>
              </a:ext>
            </a:extLst>
          </p:cNvPr>
          <p:cNvSpPr/>
          <p:nvPr/>
        </p:nvSpPr>
        <p:spPr>
          <a:xfrm>
            <a:off x="8190680" y="4880811"/>
            <a:ext cx="28238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400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https://medium.com/@restevesd</a:t>
            </a:r>
            <a:endParaRPr lang="es-EC" sz="1400" dirty="0"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6B22BD-4F4B-43D2-8B1D-1E49424EDA76}"/>
              </a:ext>
            </a:extLst>
          </p:cNvPr>
          <p:cNvSpPr/>
          <p:nvPr/>
        </p:nvSpPr>
        <p:spPr>
          <a:xfrm>
            <a:off x="3539610" y="4773090"/>
            <a:ext cx="2918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400" dirty="0">
                <a:solidFill>
                  <a:schemeClr val="bg1"/>
                </a:solidFill>
              </a:rPr>
              <a:t>https://open.spotify.com/show/0DTEMygX8IVzq5OocKJXo3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515D9B-EDDB-4D48-9431-A847F070C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546" y="4525074"/>
            <a:ext cx="1050031" cy="1050031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2052" name="Picture 4" descr="Blog, medium, medium logo icon">
            <a:extLst>
              <a:ext uri="{FF2B5EF4-FFF2-40B4-BE49-F238E27FC236}">
                <a16:creationId xmlns:a16="http://schemas.microsoft.com/office/drawing/2014/main" id="{E2A14A17-98B5-48FE-B617-7A5C3FCD5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314" y="4562025"/>
            <a:ext cx="1050031" cy="1050031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1626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66E99-595E-48EC-9E1F-CB9CB8663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C" sz="4800" b="1" dirty="0">
                <a:solidFill>
                  <a:srgbClr val="FFFF00"/>
                </a:solidFill>
              </a:rPr>
              <a:t>REGLAS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D5D6D3-AF9B-490C-8AF0-ED8A851FF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C" sz="3733" dirty="0"/>
              <a:t>Cámaras (opcional) Micrófonos(obligatorio).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sz="3733" dirty="0"/>
              <a:t>Se podrá abrir la cámara y micrófono solamente cuando el conferencista lo pida.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sz="3733" dirty="0"/>
              <a:t>Todo los asistentes pueden interactuar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sz="3733" dirty="0"/>
              <a:t>Es obligación de los asistentes participar cuando el conferencista lo solicite.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sz="3733" dirty="0"/>
              <a:t>Autoestudio</a:t>
            </a:r>
          </a:p>
        </p:txBody>
      </p:sp>
    </p:spTree>
    <p:extLst>
      <p:ext uri="{BB962C8B-B14F-4D97-AF65-F5344CB8AC3E}">
        <p14:creationId xmlns:p14="http://schemas.microsoft.com/office/powerpoint/2010/main" val="155692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6011A-DF56-485F-8C99-75BF5566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19" y="1383852"/>
            <a:ext cx="10515600" cy="822579"/>
          </a:xfrm>
        </p:spPr>
        <p:txBody>
          <a:bodyPr>
            <a:normAutofit/>
          </a:bodyPr>
          <a:lstStyle/>
          <a:p>
            <a:pPr algn="ctr"/>
            <a:r>
              <a:rPr lang="es-EC" sz="4800" dirty="0">
                <a:ea typeface="+mj-lt"/>
                <a:cs typeface="+mj-lt"/>
              </a:rPr>
              <a:t>https://forms.gle/Xxg9B6LVojUQQKVs8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EEC05B-A3C1-4516-A84B-14D175D21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5</a:t>
            </a:fld>
            <a:endParaRPr lang="es-ES" noProof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C41C714-A9D8-49DE-9A55-6670B62B757C}"/>
              </a:ext>
            </a:extLst>
          </p:cNvPr>
          <p:cNvSpPr txBox="1">
            <a:spLocks/>
          </p:cNvSpPr>
          <p:nvPr/>
        </p:nvSpPr>
        <p:spPr>
          <a:xfrm>
            <a:off x="856619" y="3644888"/>
            <a:ext cx="10515600" cy="822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4400" dirty="0"/>
              <a:t>¿ Cuánto sabemos de </a:t>
            </a:r>
            <a:r>
              <a:rPr lang="es-EC" sz="4400" dirty="0">
                <a:highlight>
                  <a:srgbClr val="FFFF00"/>
                </a:highlight>
              </a:rPr>
              <a:t>Python</a:t>
            </a:r>
            <a:r>
              <a:rPr lang="es-EC" sz="4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912688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36883359-ABB0-4706-A151-2B34F595B751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9" r="18729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9CAF7F7-DF62-407C-9CBA-D4FA8475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974" y="611078"/>
            <a:ext cx="4695825" cy="833663"/>
          </a:xfrm>
        </p:spPr>
        <p:txBody>
          <a:bodyPr/>
          <a:lstStyle/>
          <a:p>
            <a:r>
              <a:rPr lang="es-ES" dirty="0" err="1"/>
              <a:t>Meetup</a:t>
            </a:r>
            <a:r>
              <a:rPr lang="es-ES" dirty="0"/>
              <a:t> - </a:t>
            </a:r>
            <a:r>
              <a:rPr lang="es-ES" dirty="0" err="1"/>
              <a:t>Padlet</a:t>
            </a:r>
            <a:endParaRPr lang="es-EC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8638FC-294C-480B-A131-F0B41986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3200"/>
              <a:t>https://padlet.com/info6410/mi-padlet-destacado-jhz3n2e9tli2p59</a:t>
            </a:r>
            <a:endParaRPr lang="es-EC" sz="3200" dirty="0"/>
          </a:p>
        </p:txBody>
      </p:sp>
    </p:spTree>
    <p:extLst>
      <p:ext uri="{BB962C8B-B14F-4D97-AF65-F5344CB8AC3E}">
        <p14:creationId xmlns:p14="http://schemas.microsoft.com/office/powerpoint/2010/main" val="358919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B5CF03B5-7BFD-4207-AA2C-3ABC4B2F0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04" y="1519921"/>
            <a:ext cx="5825248" cy="34470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</a:rPr>
              <a:t>"El siglo 21 es un libro digital. Zola le enseñó a HYDRA cómo leerlo. Bancos, historiales médicos, patrones de votos, e-mails, teléfonos, sus exámenes escolares. Ese algoritmo puede evaluar el pasado de las personas y predecir su futuro."</a:t>
            </a:r>
            <a:endParaRPr kumimoji="0" lang="es-EC" altLang="es-EC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 Neue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71ED3831-DBFC-4EC7-9989-0C95CF6D4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607" y="302161"/>
            <a:ext cx="4146502" cy="60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48A4B0D-4BF8-465B-AEFC-1173A9FA28F6}"/>
              </a:ext>
            </a:extLst>
          </p:cNvPr>
          <p:cNvSpPr txBox="1"/>
          <p:nvPr/>
        </p:nvSpPr>
        <p:spPr>
          <a:xfrm>
            <a:off x="3590780" y="5795488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</a:rPr>
              <a:t>―Jasper </a:t>
            </a:r>
            <a:r>
              <a:rPr kumimoji="0" lang="es-EC" altLang="es-EC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</a:rPr>
              <a:t>Sitwell</a:t>
            </a:r>
            <a:endParaRPr kumimoji="0" lang="es-EC" altLang="es-EC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7677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595AC-8431-42C4-AADC-54295CF0C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GRUPOS</a:t>
            </a:r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AEA1A7-2B4C-4BBA-91D8-1DCFE61E3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8</a:t>
            </a:fld>
            <a:endParaRPr lang="es-ES" noProof="0"/>
          </a:p>
        </p:txBody>
      </p:sp>
      <p:pic>
        <p:nvPicPr>
          <p:cNvPr id="4098" name="Picture 2" descr="15 Things That Playing Sports Can Teach Kids - Australian Sports Camps">
            <a:extLst>
              <a:ext uri="{FF2B5EF4-FFF2-40B4-BE49-F238E27FC236}">
                <a16:creationId xmlns:a16="http://schemas.microsoft.com/office/drawing/2014/main" id="{71F82024-38E4-4E84-A1D9-4B5719EEB146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r="1010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591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794CD-DEB2-41EE-B80F-E4C611D9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55"/>
            <a:ext cx="6273800" cy="772107"/>
          </a:xfrm>
        </p:spPr>
        <p:txBody>
          <a:bodyPr/>
          <a:lstStyle/>
          <a:p>
            <a:r>
              <a:rPr lang="es-ES" dirty="0"/>
              <a:t>Grupos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FCA78-A5E6-4381-B0F1-ED3F27CD8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5400" dirty="0"/>
              <a:t>https://docs.google.com/spreadsheets/d/1aOIscdaFdwp5wI5XVhGT4yh8l9ADtDTN-sg14Q3FzJ4/edit?usp=sharing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97904B-5957-4DBF-B5CC-A48139DA6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80895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7679D-8A31-4894-93FA-9C4A1FE8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Intro</a:t>
            </a:r>
            <a:r>
              <a:rPr lang="es-ES" dirty="0"/>
              <a:t> Python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D22874-9F35-41CD-AF77-4F97B5D6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Anaconda – Spyder – Google </a:t>
            </a:r>
            <a:r>
              <a:rPr lang="es-ES" dirty="0" err="1"/>
              <a:t>Colab</a:t>
            </a:r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CC7AEF-83E5-4C1C-A373-BEFF62C06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10</a:t>
            </a:fld>
            <a:endParaRPr lang="es-ES" noProof="0"/>
          </a:p>
        </p:txBody>
      </p:sp>
      <p:pic>
        <p:nvPicPr>
          <p:cNvPr id="5122" name="Picture 2" descr="Customer Data Analysis – How to Analyse Data in 7 Steps">
            <a:extLst>
              <a:ext uri="{FF2B5EF4-FFF2-40B4-BE49-F238E27FC236}">
                <a16:creationId xmlns:a16="http://schemas.microsoft.com/office/drawing/2014/main" id="{AF24C7F2-1352-418A-98D4-57FC43E9785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8" r="1767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698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76946-8CE8-46CC-B693-B7532697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55"/>
            <a:ext cx="6273800" cy="772107"/>
          </a:xfrm>
        </p:spPr>
        <p:txBody>
          <a:bodyPr/>
          <a:lstStyle/>
          <a:p>
            <a:r>
              <a:rPr lang="es-ES" dirty="0"/>
              <a:t>¿Qué es Python ?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A6EE2D-7F20-4CCE-84C9-3FF64AB1A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0" y="1788082"/>
            <a:ext cx="4091865" cy="3991281"/>
          </a:xfrm>
        </p:spPr>
        <p:txBody>
          <a:bodyPr>
            <a:normAutofit/>
          </a:bodyPr>
          <a:lstStyle/>
          <a:p>
            <a:r>
              <a:rPr lang="es-ES" sz="2800" b="0" i="0" dirty="0">
                <a:effectLst/>
                <a:latin typeface="titillium_webregular"/>
              </a:rPr>
              <a:t>Python es el lenguaje de programación más demandado en </a:t>
            </a:r>
            <a:r>
              <a:rPr lang="es-ES" sz="2800" b="0" i="0" dirty="0" err="1">
                <a:effectLst/>
                <a:latin typeface="titillium_webregular"/>
              </a:rPr>
              <a:t>stackoverflow</a:t>
            </a:r>
            <a:endParaRPr lang="es-ES" sz="2800" b="0" i="0" dirty="0">
              <a:effectLst/>
              <a:latin typeface="titillium_webregular"/>
            </a:endParaRPr>
          </a:p>
          <a:p>
            <a:endParaRPr lang="es-ES" sz="2800" dirty="0">
              <a:latin typeface="titillium_webregular"/>
            </a:endParaRPr>
          </a:p>
          <a:p>
            <a:pPr marL="0" indent="0">
              <a:buNone/>
            </a:pPr>
            <a:r>
              <a:rPr lang="es-ES" sz="1100" dirty="0">
                <a:hlinkClick r:id="rId2"/>
              </a:rPr>
              <a:t>https://medium.com/codica/top-8-most-in-demand-programming-languages-for-2021-50cd4c3a8c34</a:t>
            </a:r>
            <a:endParaRPr lang="es-ES" sz="1100" dirty="0"/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dirty="0">
                <a:hlinkClick r:id="rId3"/>
              </a:rPr>
              <a:t>https://insights.stackoverflow.com/survey/2020#technology-most-loved-dreaded-and-wanted-languages-wanted</a:t>
            </a:r>
            <a:endParaRPr lang="es-ES" sz="1100" dirty="0"/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endParaRPr lang="es-ES" sz="11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2E75B3-6DDE-4C6E-8D2A-0476A7D30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11</a:t>
            </a:fld>
            <a:endParaRPr lang="es-ES" noProof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C23E252-8B8E-49A2-881C-3D2A00283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08" y="1788082"/>
            <a:ext cx="6513853" cy="4101866"/>
          </a:xfrm>
          <a:prstGeom prst="rect">
            <a:avLst/>
          </a:prstGeom>
        </p:spPr>
      </p:pic>
      <p:pic>
        <p:nvPicPr>
          <p:cNvPr id="9" name="Gráfico 8" descr="Ayuda con relleno sólido">
            <a:extLst>
              <a:ext uri="{FF2B5EF4-FFF2-40B4-BE49-F238E27FC236}">
                <a16:creationId xmlns:a16="http://schemas.microsoft.com/office/drawing/2014/main" id="{5892A029-D5A7-401F-B9A9-1D4A144653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4347" y="2870947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6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76946-8CE8-46CC-B693-B7532697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07" y="703999"/>
            <a:ext cx="6513853" cy="772107"/>
          </a:xfrm>
        </p:spPr>
        <p:txBody>
          <a:bodyPr/>
          <a:lstStyle/>
          <a:p>
            <a:r>
              <a:rPr lang="es-ES" dirty="0"/>
              <a:t>El creador de Python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A6EE2D-7F20-4CCE-84C9-3FF64AB1A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507" y="4348892"/>
            <a:ext cx="4091865" cy="1640918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s-ES" sz="1800" b="1" dirty="0">
                <a:solidFill>
                  <a:srgbClr val="92D050"/>
                </a:solidFill>
                <a:latin typeface="titillium_webregular"/>
              </a:rPr>
              <a:t>¿Por qué se llama Python? </a:t>
            </a:r>
            <a:r>
              <a:rPr lang="es-ES" dirty="0">
                <a:latin typeface="titillium_webregular"/>
              </a:rPr>
              <a:t>El nombre de este lenguaje de programación es en honor a los Monty Python, el famoso grupo de cómicos británicos.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endParaRPr lang="es-ES" sz="11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DFB336-7E9C-40CB-973F-AC55CA59F399}"/>
              </a:ext>
            </a:extLst>
          </p:cNvPr>
          <p:cNvSpPr txBox="1"/>
          <p:nvPr/>
        </p:nvSpPr>
        <p:spPr>
          <a:xfrm>
            <a:off x="516507" y="2093963"/>
            <a:ext cx="40389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b="1" i="0" dirty="0">
                <a:solidFill>
                  <a:srgbClr val="92D050"/>
                </a:solidFill>
                <a:effectLst/>
                <a:latin typeface="titillium_webregular"/>
              </a:rPr>
              <a:t>Guido Van Rossum </a:t>
            </a:r>
            <a:r>
              <a:rPr lang="es-ES" b="0" i="0" dirty="0">
                <a:solidFill>
                  <a:schemeClr val="bg1"/>
                </a:solidFill>
                <a:effectLst/>
                <a:latin typeface="titillium_webregular"/>
              </a:rPr>
              <a:t>es el creador y responsable de que Python exista. Se trata de un informático de origen holandés que fue el encargado de diseñar Python y de pensar y definir todas las vías posibles de evolución de este popular lenguaje de programación</a:t>
            </a:r>
            <a:endParaRPr lang="es-EC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FB4222-1564-4F1D-8EDF-91C7F018D44C}"/>
              </a:ext>
            </a:extLst>
          </p:cNvPr>
          <p:cNvSpPr txBox="1"/>
          <p:nvPr/>
        </p:nvSpPr>
        <p:spPr>
          <a:xfrm>
            <a:off x="250177" y="6255507"/>
            <a:ext cx="49603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050" i="1" dirty="0">
                <a:solidFill>
                  <a:schemeClr val="bg1"/>
                </a:solidFill>
              </a:rPr>
              <a:t>https://www.tokioschool.com/noticias/guido-van-rossum-creador-de-python/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37B5DB6-EFF8-45AB-8D5E-5BAAE92B6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574" y="1813150"/>
            <a:ext cx="6374166" cy="38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76946-8CE8-46CC-B693-B7532697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07" y="703999"/>
            <a:ext cx="6513853" cy="772107"/>
          </a:xfrm>
        </p:spPr>
        <p:txBody>
          <a:bodyPr/>
          <a:lstStyle/>
          <a:p>
            <a:r>
              <a:rPr lang="es-ES" dirty="0"/>
              <a:t>Links de Interés</a:t>
            </a:r>
            <a:endParaRPr lang="es-EC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DFB336-7E9C-40CB-973F-AC55CA59F399}"/>
              </a:ext>
            </a:extLst>
          </p:cNvPr>
          <p:cNvSpPr txBox="1"/>
          <p:nvPr/>
        </p:nvSpPr>
        <p:spPr>
          <a:xfrm>
            <a:off x="4247158" y="3061142"/>
            <a:ext cx="74940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dirty="0">
                <a:solidFill>
                  <a:srgbClr val="92D050"/>
                </a:solidFill>
                <a:effectLst/>
                <a:latin typeface="titillium_webregular"/>
                <a:hlinkClick r:id="rId2"/>
              </a:rPr>
              <a:t>https://es.wikipedia.org/wiki/Historia_de_Python</a:t>
            </a:r>
            <a:endParaRPr lang="es-ES" sz="2000" b="1" i="0" dirty="0">
              <a:solidFill>
                <a:srgbClr val="92D050"/>
              </a:solidFill>
              <a:effectLst/>
              <a:latin typeface="titillium_webregular"/>
            </a:endParaRPr>
          </a:p>
          <a:p>
            <a:r>
              <a:rPr lang="es-EC" sz="2000" dirty="0">
                <a:solidFill>
                  <a:schemeClr val="bg1"/>
                </a:solidFill>
                <a:hlinkClick r:id="rId3"/>
              </a:rPr>
              <a:t>https://es.wikipedia.org/wiki/Python</a:t>
            </a:r>
            <a:endParaRPr lang="es-EC" sz="2000" dirty="0">
              <a:solidFill>
                <a:schemeClr val="bg1"/>
              </a:solidFill>
            </a:endParaRPr>
          </a:p>
          <a:p>
            <a:endParaRPr lang="es-ES" sz="2000" b="1" dirty="0">
              <a:solidFill>
                <a:srgbClr val="92D050"/>
              </a:solidFill>
              <a:latin typeface="titillium_webregular"/>
            </a:endParaRPr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6B8D2484-0C47-4F71-9589-7AA2981A62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07" y="2084598"/>
            <a:ext cx="3778189" cy="377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 descr="Texto&#10;&#10;Descripción generada automáticamente">
            <a:extLst>
              <a:ext uri="{FF2B5EF4-FFF2-40B4-BE49-F238E27FC236}">
                <a16:creationId xmlns:a16="http://schemas.microsoft.com/office/drawing/2014/main" id="{F2B0B43F-BFEA-4FEF-9791-B7854806D9FD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9" r="18729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79B52E0-BC06-41B4-AF86-34B8B63C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974" y="2974683"/>
            <a:ext cx="4695825" cy="772107"/>
          </a:xfrm>
        </p:spPr>
        <p:txBody>
          <a:bodyPr/>
          <a:lstStyle/>
          <a:p>
            <a:r>
              <a:rPr lang="es-ES" sz="3600" dirty="0"/>
              <a:t>¿ Quienes usan Python ?</a:t>
            </a:r>
            <a:endParaRPr lang="es-EC" sz="3600" dirty="0"/>
          </a:p>
        </p:txBody>
      </p:sp>
    </p:spTree>
    <p:extLst>
      <p:ext uri="{BB962C8B-B14F-4D97-AF65-F5344CB8AC3E}">
        <p14:creationId xmlns:p14="http://schemas.microsoft.com/office/powerpoint/2010/main" val="2386258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FBA8C-381C-4ACF-A33E-565F58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s-ES" kern="1200" spc="-300">
                <a:latin typeface="+mj-lt"/>
                <a:ea typeface="+mj-ea"/>
                <a:cs typeface="+mj-cs"/>
              </a:rPr>
              <a:t>¿ Quienes lo usan 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29C51B-FF69-4CDD-84F8-E268A0A7463F}"/>
              </a:ext>
            </a:extLst>
          </p:cNvPr>
          <p:cNvSpPr txBox="1"/>
          <p:nvPr/>
        </p:nvSpPr>
        <p:spPr>
          <a:xfrm>
            <a:off x="7873612" y="4611901"/>
            <a:ext cx="3924000" cy="68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Instragram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4EA1FDE5-C28E-419B-A7D1-B21FCA399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>
                <a:spcAft>
                  <a:spcPts val="600"/>
                </a:spcAft>
              </a:pPr>
              <a:t>15</a:t>
            </a:fld>
            <a:endParaRPr lang="es-ES" noProof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3F10E8-7E7A-41BF-80A4-D72C91A6F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90" r="7980"/>
          <a:stretch/>
        </p:blipFill>
        <p:spPr>
          <a:xfrm>
            <a:off x="-1" y="10"/>
            <a:ext cx="7512001" cy="67278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5030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FBA8C-381C-4ACF-A33E-565F58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s-ES" kern="1200" spc="-300">
                <a:latin typeface="+mj-lt"/>
                <a:ea typeface="+mj-ea"/>
                <a:cs typeface="+mj-cs"/>
              </a:rPr>
              <a:t>¿ Quienes lo usan 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29C51B-FF69-4CDD-84F8-E268A0A7463F}"/>
              </a:ext>
            </a:extLst>
          </p:cNvPr>
          <p:cNvSpPr txBox="1"/>
          <p:nvPr/>
        </p:nvSpPr>
        <p:spPr>
          <a:xfrm>
            <a:off x="7873612" y="4611901"/>
            <a:ext cx="3924000" cy="68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Pinterest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4A3E2A56-35C9-4DF3-BEAC-4525A3C76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>
                <a:spcAft>
                  <a:spcPts val="600"/>
                </a:spcAft>
              </a:pPr>
              <a:t>16</a:t>
            </a:fld>
            <a:endParaRPr lang="es-ES" noProof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5F3D31-5618-475B-9B1A-63C2E244DD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43" r="17927"/>
          <a:stretch/>
        </p:blipFill>
        <p:spPr>
          <a:xfrm>
            <a:off x="-1" y="10"/>
            <a:ext cx="7512001" cy="67278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1586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FBA8C-381C-4ACF-A33E-565F58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s-ES" kern="1200" spc="-300">
                <a:latin typeface="+mj-lt"/>
                <a:ea typeface="+mj-ea"/>
                <a:cs typeface="+mj-cs"/>
              </a:rPr>
              <a:t>¿ Quienes lo usan 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29C51B-FF69-4CDD-84F8-E268A0A7463F}"/>
              </a:ext>
            </a:extLst>
          </p:cNvPr>
          <p:cNvSpPr txBox="1"/>
          <p:nvPr/>
        </p:nvSpPr>
        <p:spPr>
          <a:xfrm>
            <a:off x="7873612" y="4611901"/>
            <a:ext cx="3924000" cy="68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Dropbox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F71F474-4A32-47C9-B05D-E36E80085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>
                <a:spcAft>
                  <a:spcPts val="600"/>
                </a:spcAft>
              </a:pPr>
              <a:t>17</a:t>
            </a:fld>
            <a:endParaRPr lang="es-ES" noProof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69E2A97-5E6C-4BBB-BD16-13EBCF79CC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12" r="14268"/>
          <a:stretch/>
        </p:blipFill>
        <p:spPr>
          <a:xfrm>
            <a:off x="-1" y="306955"/>
            <a:ext cx="7512001" cy="61139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5144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FBA8C-381C-4ACF-A33E-565F58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s-ES" kern="1200" spc="-300">
                <a:latin typeface="+mj-lt"/>
                <a:ea typeface="+mj-ea"/>
                <a:cs typeface="+mj-cs"/>
              </a:rPr>
              <a:t>¿ Quienes lo usan 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29C51B-FF69-4CDD-84F8-E268A0A7463F}"/>
              </a:ext>
            </a:extLst>
          </p:cNvPr>
          <p:cNvSpPr txBox="1"/>
          <p:nvPr/>
        </p:nvSpPr>
        <p:spPr>
          <a:xfrm>
            <a:off x="7873612" y="4611901"/>
            <a:ext cx="3924000" cy="68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s-ES" sz="16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Battlefield 2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EE19E91-2F51-44FB-A04C-A8006C6A4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>
                <a:spcAft>
                  <a:spcPts val="600"/>
                </a:spcAft>
              </a:pPr>
              <a:t>18</a:t>
            </a:fld>
            <a:endParaRPr lang="es-ES" noProof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EF691B-E166-46E5-B8DD-57030B60E6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0" r="20495" b="2"/>
          <a:stretch/>
        </p:blipFill>
        <p:spPr>
          <a:xfrm>
            <a:off x="-1" y="10"/>
            <a:ext cx="7512001" cy="67278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7322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FBA8C-381C-4ACF-A33E-565F58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s-ES" kern="1200" spc="-300">
                <a:latin typeface="+mj-lt"/>
                <a:ea typeface="+mj-ea"/>
                <a:cs typeface="+mj-cs"/>
              </a:rPr>
              <a:t>¿ Quienes lo usan 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29C51B-FF69-4CDD-84F8-E268A0A7463F}"/>
              </a:ext>
            </a:extLst>
          </p:cNvPr>
          <p:cNvSpPr txBox="1"/>
          <p:nvPr/>
        </p:nvSpPr>
        <p:spPr>
          <a:xfrm>
            <a:off x="7873612" y="4611901"/>
            <a:ext cx="3924000" cy="68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s-ES" sz="16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La NASA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668EDF8-2EDC-4028-B9B3-C07EFB418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>
                <a:spcAft>
                  <a:spcPts val="600"/>
                </a:spcAft>
              </a:pPr>
              <a:t>19</a:t>
            </a:fld>
            <a:endParaRPr lang="es-ES" noProof="0"/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2AE37332-85DD-4470-9E09-BCE38DDB6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70" y="0"/>
            <a:ext cx="7214859" cy="67278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1557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AEE0393-090E-4A04-A943-0ACC058910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20</a:t>
            </a:fld>
            <a:endParaRPr lang="es-ES" noProof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611135-06DC-433F-8724-A88ED194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1" y="256736"/>
            <a:ext cx="4463219" cy="32097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148692C-2CB5-4DF5-B33A-E51A42D63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119" y="330117"/>
            <a:ext cx="5219700" cy="286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D36B754-D45C-4FB0-95D5-CA27DE0E3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594" y="3270578"/>
            <a:ext cx="4337050" cy="2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LM Industrial Light &amp;amp; Magic celebra sus 40 años en un minuto de vídeo">
            <a:extLst>
              <a:ext uri="{FF2B5EF4-FFF2-40B4-BE49-F238E27FC236}">
                <a16:creationId xmlns:a16="http://schemas.microsoft.com/office/drawing/2014/main" id="{AC2F8A2F-B151-4A69-BFB7-EDBB129F4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76" y="4075475"/>
            <a:ext cx="3429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Quora ya está disponible en español | .: Paréntesis :.">
            <a:extLst>
              <a:ext uri="{FF2B5EF4-FFF2-40B4-BE49-F238E27FC236}">
                <a16:creationId xmlns:a16="http://schemas.microsoft.com/office/drawing/2014/main" id="{81C9C2B2-CED5-42DA-9CDF-DFD7930D3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525" y="4451433"/>
            <a:ext cx="332232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324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FBA8C-381C-4ACF-A33E-565F58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55"/>
            <a:ext cx="6273800" cy="772107"/>
          </a:xfrm>
        </p:spPr>
        <p:txBody>
          <a:bodyPr/>
          <a:lstStyle/>
          <a:p>
            <a:r>
              <a:rPr lang="es-ES" dirty="0"/>
              <a:t>Links de Interés</a:t>
            </a:r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29C51B-FF69-4CDD-84F8-E268A0A7463F}"/>
              </a:ext>
            </a:extLst>
          </p:cNvPr>
          <p:cNvSpPr txBox="1"/>
          <p:nvPr/>
        </p:nvSpPr>
        <p:spPr>
          <a:xfrm>
            <a:off x="634630" y="2510875"/>
            <a:ext cx="109227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C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hlinkClick r:id="rId2"/>
              </a:rPr>
              <a:t>https://www.escuelapython.com/grandes-proyectos-hechos-python/</a:t>
            </a:r>
            <a:endParaRPr lang="es-EC" sz="2400" b="0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C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hlinkClick r:id="rId3"/>
              </a:rPr>
              <a:t>https://docs.microsoft.com/en-us/learn/paths/introduction-python-space-exploration-nasa/</a:t>
            </a:r>
            <a:endParaRPr lang="es-EC" sz="2400" b="0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C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hlinkClick r:id="rId4"/>
              </a:rPr>
              <a:t>https://thelead.io/data-science/companies-that-uses-python</a:t>
            </a:r>
            <a:endParaRPr lang="es-EC" sz="2400" dirty="0">
              <a:solidFill>
                <a:schemeClr val="bg1"/>
              </a:solidFill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C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hlinkClick r:id="rId5"/>
              </a:rPr>
              <a:t>https://www.python.org/about/success/usa/</a:t>
            </a:r>
            <a:endParaRPr lang="es-EC" sz="2400" b="0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C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hlinkClick r:id="rId6"/>
              </a:rPr>
              <a:t>https://netflixtechblog.com/python-at-netflix-86b6028b3b3e</a:t>
            </a:r>
            <a:endParaRPr lang="es-EC" sz="2400" b="0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C" sz="2400" dirty="0">
                <a:solidFill>
                  <a:schemeClr val="bg1"/>
                </a:solidFill>
                <a:latin typeface="Roboto" panose="02000000000000000000" pitchFamily="2" charset="0"/>
                <a:hlinkClick r:id="rId7"/>
              </a:rPr>
              <a:t>https://www.quora.com/Why-did-Quora-choose-Python-for-its-development-What-technological-challenges-did-the-founders-face-before-they-decided-to-go-with-Python-rather-than-PHP/answers/65731?srid=vt0q</a:t>
            </a:r>
            <a:endParaRPr lang="es-EC" sz="2400" dirty="0">
              <a:solidFill>
                <a:schemeClr val="bg1"/>
              </a:solidFill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C" sz="2400" dirty="0">
              <a:solidFill>
                <a:schemeClr val="bg1"/>
              </a:solidFill>
              <a:latin typeface="Roboto" panose="02000000000000000000" pitchFamily="2" charset="0"/>
            </a:endParaRPr>
          </a:p>
          <a:p>
            <a:pPr algn="just"/>
            <a:endParaRPr lang="es-EC" sz="2400" b="0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C" sz="2400" b="0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C" sz="2400" b="0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414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Hombre sentado en una silla&#10;&#10;Descripción generada automáticamente con confianza media">
            <a:extLst>
              <a:ext uri="{FF2B5EF4-FFF2-40B4-BE49-F238E27FC236}">
                <a16:creationId xmlns:a16="http://schemas.microsoft.com/office/drawing/2014/main" id="{63EFAB2E-095A-41AB-A15B-D43D2ACC4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02788" cy="6742512"/>
          </a:xfr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D8DE2C9-1C79-4920-8A24-CF0A718B0C25}"/>
              </a:ext>
            </a:extLst>
          </p:cNvPr>
          <p:cNvSpPr txBox="1"/>
          <p:nvPr/>
        </p:nvSpPr>
        <p:spPr>
          <a:xfrm>
            <a:off x="144262" y="6263526"/>
            <a:ext cx="23682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b="0" i="0" dirty="0">
                <a:solidFill>
                  <a:schemeClr val="bg1"/>
                </a:solidFill>
                <a:effectLst/>
                <a:latin typeface="Proxima Nova"/>
              </a:rPr>
              <a:t>imagen: Freepik.com</a:t>
            </a:r>
            <a:endParaRPr lang="es-EC" sz="1400" dirty="0">
              <a:solidFill>
                <a:schemeClr val="bg1"/>
              </a:solidFill>
            </a:endParaRP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79C6E2BB-7B2E-4629-A172-C12FF545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0" y="21040"/>
            <a:ext cx="4305300" cy="6721472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highlight>
                  <a:srgbClr val="FFFF00"/>
                </a:highlight>
              </a:rPr>
              <a:t>Vamos a escribir código</a:t>
            </a:r>
            <a:endParaRPr lang="es-EC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60503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47BD9-DB62-4886-972B-DF226767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55"/>
            <a:ext cx="6273800" cy="772107"/>
          </a:xfrm>
        </p:spPr>
        <p:txBody>
          <a:bodyPr/>
          <a:lstStyle/>
          <a:p>
            <a:r>
              <a:rPr lang="es-ES" dirty="0"/>
              <a:t>Enlaces de interés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23B3DD-53A4-4DC8-B43F-8AC0EFBF5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>
                <a:hlinkClick r:id="rId2"/>
              </a:rPr>
              <a:t>https://khuyentran1401.github.io/Efficient_Python_tricks_and_tools_for_data_scientists/README.html</a:t>
            </a:r>
            <a:endParaRPr lang="es-EC" dirty="0"/>
          </a:p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F4F67F-0346-4879-A289-E13C8AC56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23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99175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7679D-8A31-4894-93FA-9C4A1FE8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D22874-9F35-41CD-AF77-4F97B5D6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CC7AEF-83E5-4C1C-A373-BEFF62C06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24</a:t>
            </a:fld>
            <a:endParaRPr lang="es-ES" noProof="0"/>
          </a:p>
        </p:txBody>
      </p:sp>
      <p:pic>
        <p:nvPicPr>
          <p:cNvPr id="5122" name="Picture 2" descr="Customer Data Analysis – How to Analyse Data in 7 Steps">
            <a:extLst>
              <a:ext uri="{FF2B5EF4-FFF2-40B4-BE49-F238E27FC236}">
                <a16:creationId xmlns:a16="http://schemas.microsoft.com/office/drawing/2014/main" id="{AF24C7F2-1352-418A-98D4-57FC43E9785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8" r="1767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917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D78A3-5BBB-438A-B00B-6F24A2F5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4856"/>
            <a:ext cx="10515599" cy="1326105"/>
          </a:xfrm>
        </p:spPr>
        <p:txBody>
          <a:bodyPr/>
          <a:lstStyle/>
          <a:p>
            <a:r>
              <a:rPr lang="es-ES" dirty="0"/>
              <a:t>Análisis de datos - Una analogía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4DC694-D656-4D04-B7B0-B5A8D950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6981"/>
          </a:xfrm>
        </p:spPr>
        <p:txBody>
          <a:bodyPr/>
          <a:lstStyle/>
          <a:p>
            <a:r>
              <a:rPr lang="es-ES" sz="3200" b="1" dirty="0"/>
              <a:t>Entendamos el análisis de datos con un ejemplo</a:t>
            </a:r>
          </a:p>
          <a:p>
            <a:pPr lvl="1"/>
            <a:r>
              <a:rPr lang="es-ES" dirty="0"/>
              <a:t>Imaginemos que tenemos una granja de manzanas y queremos saber el número de manzanas que cultivamos, pero estamos demasiado ocupados con la granja, así que contratamos a alguien para que las cuente. También vendemos las manzanas y hacemos que el contador de manzanas lleve un registro del número de manzanas que tenemos al principio y al final del día, todos los días. </a:t>
            </a:r>
          </a:p>
          <a:p>
            <a:pPr lvl="1"/>
            <a:r>
              <a:rPr lang="es-ES" dirty="0"/>
              <a:t>Pasan muchos días y meses y vamos juntando hoja tras hoja del recuento de manzanas y descubrimos patrones y tendencias en el comportamiento de compra de los clientes.</a:t>
            </a:r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664B2E-E845-43C3-92D0-E90978E42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25</a:t>
            </a:fld>
            <a:endParaRPr lang="es-ES" noProof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3066D3-827F-48EC-BB45-5983F4719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9"/>
          <a:stretch/>
        </p:blipFill>
        <p:spPr bwMode="auto">
          <a:xfrm>
            <a:off x="2239624" y="4092606"/>
            <a:ext cx="7162793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083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6BC7D-88AF-4BAC-B1A2-0C9B50A3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55"/>
            <a:ext cx="10515600" cy="772107"/>
          </a:xfrm>
        </p:spPr>
        <p:txBody>
          <a:bodyPr/>
          <a:lstStyle/>
          <a:p>
            <a:r>
              <a:rPr lang="es-ES" dirty="0"/>
              <a:t>Análisis de datos - Una analogía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324B3-A985-4979-AE44-FE49DF5B6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s-ES" sz="2400" dirty="0"/>
              <a:t>Las tendencias y los patrones le ayudan a darse cuenta de que durante la estación más fría, su producción de manzanas es la misma, pero la gente compra menos que durante el verano. </a:t>
            </a:r>
          </a:p>
          <a:p>
            <a:r>
              <a:rPr lang="es-ES" sz="2400" dirty="0"/>
              <a:t>Entonces te propones profundizar en esta tendencia y encontrar formas de mantener las ventas de manzanas constantes durante todo el año, superando a tus competidores en el juego y convirtiéndote en un magnate de las granjas de manzanas.</a:t>
            </a:r>
          </a:p>
          <a:p>
            <a:r>
              <a:rPr lang="es-ES" sz="2600" b="1" dirty="0">
                <a:solidFill>
                  <a:srgbClr val="FFFF00"/>
                </a:solidFill>
              </a:rPr>
              <a:t>Las manzanas son tus datos, su seguimiento es importante, el análisis es clave</a:t>
            </a:r>
          </a:p>
          <a:p>
            <a:r>
              <a:rPr lang="es-ES" sz="2400" dirty="0"/>
              <a:t>Para empezar, sabrás si tu oferta de manzanas coincide con la demanda del mercado, así como la consistencia de la relación entre la demanda y la oferta a lo largo del año. Si fijas el precio de cada manzana y bajas el coste, obtendrás tu beneficio. </a:t>
            </a:r>
          </a:p>
          <a:p>
            <a:r>
              <a:rPr lang="es-ES" sz="2400" dirty="0"/>
              <a:t>Cuando </a:t>
            </a:r>
            <a:r>
              <a:rPr lang="es-ES" sz="2400"/>
              <a:t>tengamos</a:t>
            </a:r>
            <a:r>
              <a:rPr lang="es-ES" sz="2400" dirty="0"/>
              <a:t> suficientes datos, encontrará tendencias y patrones en su producción. Estas tendencias pueden ayudarle a comprender mejor la empresa, a reducir la ineficiencia y, por tanto, a reducir los costes.</a:t>
            </a:r>
            <a:endParaRPr lang="es-EC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762961-2F67-44AA-96C9-F94E15856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2494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048F-B3BC-4214-AB40-65D003FB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3060"/>
            <a:ext cx="10083800" cy="772107"/>
          </a:xfrm>
        </p:spPr>
        <p:txBody>
          <a:bodyPr/>
          <a:lstStyle/>
          <a:p>
            <a:r>
              <a:rPr lang="es-ES" dirty="0">
                <a:ea typeface="+mj-lt"/>
                <a:cs typeface="+mj-lt"/>
              </a:rPr>
              <a:t>¿Qué es el análisis de datos ( </a:t>
            </a:r>
            <a:r>
              <a:rPr lang="es-ES">
                <a:ea typeface="+mj-lt"/>
                <a:cs typeface="+mj-lt"/>
              </a:rPr>
              <a:t>Data Analysis )?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DA58D-D1C6-449C-8463-CABE55290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sz="2800">
                <a:ea typeface="+mn-lt"/>
                <a:cs typeface="+mn-lt"/>
              </a:rPr>
              <a:t>Como agricultor de manzanas, recogiste el recuento de manzanas al principio del día y al final del día de forma organizada en las hojas. Al final, obtuviste información reveladora (es decir, tendencias y patrones en la venta de manzanas) a partir de esos datos. Esto se llama Análisis de Datos.</a:t>
            </a:r>
            <a:endParaRPr lang="es-ES" sz="2800">
              <a:cs typeface="Calibri"/>
            </a:endParaRPr>
          </a:p>
          <a:p>
            <a:r>
              <a:rPr lang="es-ES" sz="2800">
                <a:ea typeface="+mn-lt"/>
                <a:cs typeface="+mn-lt"/>
              </a:rPr>
              <a:t>Así que, reuniendo todas las palabras anteriores,</a:t>
            </a:r>
            <a:r>
              <a:rPr lang="es-ES" sz="2800">
                <a:solidFill>
                  <a:srgbClr val="FFFF00"/>
                </a:solidFill>
                <a:ea typeface="+mn-lt"/>
                <a:cs typeface="+mn-lt"/>
              </a:rPr>
              <a:t> el análisis de datos es un método de recopilación y organización de los datos y, si es necesario, de manipulación de los mismos para poder obtener alguna información útil a partir de ellos.</a:t>
            </a:r>
            <a:endParaRPr lang="es-ES" sz="2800">
              <a:solidFill>
                <a:srgbClr val="FFFF00"/>
              </a:solidFill>
              <a:cs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2145CE-9C41-448A-8BD5-795EF4C92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27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79771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3C006-7C46-4294-8313-E0B8DD40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2">
              <a:lumMod val="50000"/>
            </a:schemeClr>
          </a:solidFill>
        </p:spPr>
        <p:txBody>
          <a:bodyPr anchor="ctr">
            <a:normAutofit/>
          </a:bodyPr>
          <a:lstStyle/>
          <a:p>
            <a:r>
              <a:rPr lang="es-ES"/>
              <a:t>Data Analysis y Pandas</a:t>
            </a:r>
          </a:p>
        </p:txBody>
      </p:sp>
      <p:pic>
        <p:nvPicPr>
          <p:cNvPr id="5" name="Imagen 5" descr="Imagen que contiene persona, interior, estacionaria, instrumento&#10;&#10;Descripción generada automáticamente">
            <a:extLst>
              <a:ext uri="{FF2B5EF4-FFF2-40B4-BE49-F238E27FC236}">
                <a16:creationId xmlns:a16="http://schemas.microsoft.com/office/drawing/2014/main" id="{BF542868-5C54-4DAE-9A26-F5FDFE66D8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09" r="-1" b="-1"/>
          <a:stretch/>
        </p:blipFill>
        <p:spPr>
          <a:xfrm>
            <a:off x="838200" y="1825625"/>
            <a:ext cx="5181600" cy="4351338"/>
          </a:xfrm>
          <a:prstGeom prst="rect">
            <a:avLst/>
          </a:prstGeo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CD0C1-85BD-4A80-BC14-A0C8BCBB6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s-ES" sz="3600">
                <a:solidFill>
                  <a:srgbClr val="FFFF00"/>
                </a:solidFill>
              </a:rPr>
              <a:t>Pandas</a:t>
            </a:r>
            <a:r>
              <a:rPr lang="es-ES" sz="3600"/>
              <a:t> es una herramienta en </a:t>
            </a:r>
            <a:r>
              <a:rPr lang="es-ES" sz="3600">
                <a:solidFill>
                  <a:srgbClr val="FFFF00"/>
                </a:solidFill>
              </a:rPr>
              <a:t>Python</a:t>
            </a:r>
            <a:r>
              <a:rPr lang="es-ES" sz="3600" dirty="0"/>
              <a:t> </a:t>
            </a:r>
            <a:r>
              <a:rPr lang="es-ES" sz="3600"/>
              <a:t>que le ayuda a recoger (o leer) los datos de un archivo, organizarlos en un formato tabular, manipular y limpiar los datos si es necesario para obtener información útil a partir de los datos.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1CD03D-0569-4F90-8B11-4FBD9785F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 anchor="ctr">
            <a:normAutofit fontScale="92500"/>
          </a:bodyPr>
          <a:lstStyle/>
          <a:p>
            <a:pPr rtl="0">
              <a:spcAft>
                <a:spcPts val="600"/>
              </a:spcAft>
            </a:pPr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>
                <a:spcAft>
                  <a:spcPts val="600"/>
                </a:spcAft>
              </a:pPr>
              <a:t>28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23889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7679D-8A31-4894-93FA-9C4A1FE8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Pandas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D22874-9F35-41CD-AF77-4F97B5D6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s-EC">
                <a:cs typeface="Calibri"/>
              </a:rPr>
              <a:t>Introducción</a:t>
            </a:r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CC7AEF-83E5-4C1C-A373-BEFF62C06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29</a:t>
            </a:fld>
            <a:endParaRPr lang="es-ES" noProof="0"/>
          </a:p>
        </p:txBody>
      </p:sp>
      <p:pic>
        <p:nvPicPr>
          <p:cNvPr id="5122" name="Picture 2" descr="Customer Data Analysis – How to Analyse Data in 7 Steps">
            <a:extLst>
              <a:ext uri="{FF2B5EF4-FFF2-40B4-BE49-F238E27FC236}">
                <a16:creationId xmlns:a16="http://schemas.microsoft.com/office/drawing/2014/main" id="{AF24C7F2-1352-418A-98D4-57FC43E9785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8" r="1767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389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DD2B9-91FF-46BF-9580-B016DD5B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55"/>
            <a:ext cx="6273800" cy="772107"/>
          </a:xfrm>
        </p:spPr>
        <p:txBody>
          <a:bodyPr/>
          <a:lstStyle/>
          <a:p>
            <a:r>
              <a:rPr lang="es-ES" dirty="0"/>
              <a:t>Introducción PANDAS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1EF01D-85F0-4AD6-AAE1-640FA6FA7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sz="2800" dirty="0">
                <a:solidFill>
                  <a:schemeClr val="tx1"/>
                </a:solidFill>
                <a:highlight>
                  <a:srgbClr val="FFFF00"/>
                </a:highlight>
              </a:rPr>
              <a:t>pandas</a:t>
            </a:r>
            <a:r>
              <a:rPr lang="es-ES" sz="2800" dirty="0"/>
              <a:t> proporciona estructuras de datos de alto nivel y funciones diseñadas para hacer que el trabajo con datos estructurados o tabulares </a:t>
            </a:r>
            <a:r>
              <a:rPr lang="es-ES" sz="2800"/>
              <a:t>sea rápido y fácil.</a:t>
            </a:r>
          </a:p>
          <a:p>
            <a:r>
              <a:rPr lang="es-ES" sz="2800" dirty="0"/>
              <a:t>Los</a:t>
            </a:r>
            <a:r>
              <a:rPr lang="es-ES" sz="2800"/>
              <a:t> principales objetos de pandas que se utilizarán son el </a:t>
            </a:r>
            <a:r>
              <a:rPr lang="es-ES" sz="2800" err="1">
                <a:solidFill>
                  <a:srgbClr val="92D050"/>
                </a:solidFill>
              </a:rPr>
              <a:t>DataFrame</a:t>
            </a:r>
            <a:r>
              <a:rPr lang="es-ES" sz="2800" dirty="0"/>
              <a:t>, una estructura de datos tabular orientada a columnas con etiquetas de filas y columnas, y la </a:t>
            </a:r>
            <a:r>
              <a:rPr lang="es-ES" sz="2800" dirty="0">
                <a:solidFill>
                  <a:srgbClr val="92D050"/>
                </a:solidFill>
              </a:rPr>
              <a:t>Serie</a:t>
            </a:r>
            <a:r>
              <a:rPr lang="es-ES" sz="2800" dirty="0"/>
              <a:t>, un objeto de matriz unidimensional etiquetada. </a:t>
            </a:r>
          </a:p>
          <a:p>
            <a:r>
              <a:rPr lang="es-ES" sz="2800" dirty="0">
                <a:solidFill>
                  <a:schemeClr val="tx1"/>
                </a:solidFill>
                <a:highlight>
                  <a:srgbClr val="FFFF00"/>
                </a:highlight>
              </a:rPr>
              <a:t>pandas</a:t>
            </a:r>
            <a:r>
              <a:rPr lang="es-ES" sz="2800" dirty="0"/>
              <a:t> combina las ideas de alto rendimiento y de cálculo de matrices de </a:t>
            </a:r>
            <a:r>
              <a:rPr lang="es-ES" sz="2800" err="1"/>
              <a:t>NumPy</a:t>
            </a:r>
            <a:r>
              <a:rPr lang="es-ES" sz="2800" dirty="0"/>
              <a:t> con las capacidades flexibles de manipulación de datos de las hojas de cálculo y las bases de datos relacionales (como SQL). 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97F937-58D7-4B9B-A8FA-230AF9020D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30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24368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AAEE6-66F6-4C39-9753-ABCCD09B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0650"/>
            <a:ext cx="10509623" cy="772107"/>
          </a:xfrm>
        </p:spPr>
        <p:txBody>
          <a:bodyPr/>
          <a:lstStyle/>
          <a:p>
            <a:r>
              <a:rPr lang="es-ES" dirty="0">
                <a:cs typeface="Calibri Light"/>
              </a:rPr>
              <a:t>¿ Qué es un </a:t>
            </a:r>
            <a:r>
              <a:rPr lang="es-ES" dirty="0" err="1">
                <a:cs typeface="Calibri Light"/>
              </a:rPr>
              <a:t>Dataframe</a:t>
            </a:r>
            <a:r>
              <a:rPr lang="es-ES" dirty="0">
                <a:cs typeface="Calibri Light"/>
              </a:rPr>
              <a:t> | qué es una Serie 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9DC89D-8930-4B6C-BDF6-2C10771D4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31</a:t>
            </a:fld>
            <a:endParaRPr lang="es-ES" noProof="0"/>
          </a:p>
        </p:txBody>
      </p:sp>
      <p:pic>
        <p:nvPicPr>
          <p:cNvPr id="6" name="Imagen 6" descr="Tabla&#10;&#10;Descripción generada automáticamente">
            <a:extLst>
              <a:ext uri="{FF2B5EF4-FFF2-40B4-BE49-F238E27FC236}">
                <a16:creationId xmlns:a16="http://schemas.microsoft.com/office/drawing/2014/main" id="{10E01E06-FE34-4365-9BB0-E45A0DB47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12" y="1912929"/>
            <a:ext cx="9578788" cy="377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67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92FDC-375E-4CD5-9A52-F4AE6D84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anchor="b">
            <a:normAutofit/>
          </a:bodyPr>
          <a:lstStyle/>
          <a:p>
            <a:r>
              <a:rPr lang="es-ES"/>
              <a:t>Intro Pandas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0EE377-091A-46F8-90CD-B6502373E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3612" y="4611901"/>
            <a:ext cx="3901589" cy="1558058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s-ES" sz="2400" dirty="0"/>
              <a:t>https://colab.research.google.com/drive/1Bz4jGMLUemcYEL-EOzF6iblgeUgbUQPD?usp=sharing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7944D6-27D2-4771-9A0E-7FE1455FC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 anchor="ctr">
            <a:normAutofit fontScale="92500"/>
          </a:bodyPr>
          <a:lstStyle/>
          <a:p>
            <a:pPr rtl="0">
              <a:spcAft>
                <a:spcPts val="600"/>
              </a:spcAft>
            </a:pPr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>
                <a:spcAft>
                  <a:spcPts val="600"/>
                </a:spcAft>
              </a:pPr>
              <a:t>32</a:t>
            </a:fld>
            <a:endParaRPr lang="es-ES" noProof="0"/>
          </a:p>
        </p:txBody>
      </p:sp>
      <p:pic>
        <p:nvPicPr>
          <p:cNvPr id="6" name="Picture 5" descr="Giant panda eating grass">
            <a:extLst>
              <a:ext uri="{FF2B5EF4-FFF2-40B4-BE49-F238E27FC236}">
                <a16:creationId xmlns:a16="http://schemas.microsoft.com/office/drawing/2014/main" id="{9A5B1E65-F901-4346-8E94-9214E938BB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66" r="13318" b="4"/>
          <a:stretch/>
        </p:blipFill>
        <p:spPr>
          <a:xfrm>
            <a:off x="-1" y="10"/>
            <a:ext cx="7512001" cy="67278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6581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50351-3F9F-454C-BEE5-C72C6889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55"/>
            <a:ext cx="6273800" cy="772107"/>
          </a:xfrm>
        </p:spPr>
        <p:txBody>
          <a:bodyPr/>
          <a:lstStyle/>
          <a:p>
            <a:r>
              <a:rPr lang="es-ES" dirty="0"/>
              <a:t>PANDAS -Ejercicio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F8A651-250D-49FF-8AA1-1B1AA17C2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6600" dirty="0"/>
              <a:t>https://drive.google.com/file/d/1HFtlvpL5dgmx_wt5kMEPSJl9muBDfjaD/view?usp=sharing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54CEBD-143B-4D5F-AC40-2F6DFED03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s-ES" noProof="0"/>
              <a:t>PÁGINA </a:t>
            </a:r>
            <a:fld id="{4A9B5881-4007-4345-955A-79C2656F0C49}" type="slidenum">
              <a:rPr lang="es-ES" noProof="0" smtClean="0"/>
              <a:pPr rtl="0"/>
              <a:t>33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43268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254">
      <a:dk1>
        <a:srgbClr val="000000"/>
      </a:dk1>
      <a:lt1>
        <a:srgbClr val="FFFFFF"/>
      </a:lt1>
      <a:dk2>
        <a:srgbClr val="242A41"/>
      </a:dk2>
      <a:lt2>
        <a:srgbClr val="E2E8E3"/>
      </a:lt2>
      <a:accent1>
        <a:srgbClr val="5370C5"/>
      </a:accent1>
      <a:accent2>
        <a:srgbClr val="17B2D1"/>
      </a:accent2>
      <a:accent3>
        <a:srgbClr val="2978E7"/>
      </a:accent3>
      <a:accent4>
        <a:srgbClr val="7829E7"/>
      </a:accent4>
      <a:accent5>
        <a:srgbClr val="B517D5"/>
      </a:accent5>
      <a:accent6>
        <a:srgbClr val="E729B7"/>
      </a:accent6>
      <a:hlink>
        <a:srgbClr val="5370C5"/>
      </a:hlink>
      <a:folHlink>
        <a:srgbClr val="7F7F7F"/>
      </a:folHlink>
    </a:clrScheme>
    <a:fontScheme name="MS Surge Teach Light and Dar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6508521_TF67543618_Win32" id="{B016CF93-3DEA-481B-919A-725B726BCF73}" vid="{10296615-B534-492E-B94F-DD8FF143AF6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BB7C387-AFDC-4FE3-A658-984B7F35F1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766BD6-F648-49AA-B7EC-13E75CECB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E32C0B-4052-44CB-9341-8AD8B2CC471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para enseñar un curso empresarial</Template>
  <TotalTime>31334</TotalTime>
  <Words>1263</Words>
  <Application>Microsoft Office PowerPoint</Application>
  <PresentationFormat>Panorámica</PresentationFormat>
  <Paragraphs>131</Paragraphs>
  <Slides>33</Slides>
  <Notes>2</Notes>
  <HiddenSlides>14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Helvetica Neue</vt:lpstr>
      <vt:lpstr>Proxima Nova</vt:lpstr>
      <vt:lpstr>Roboto</vt:lpstr>
      <vt:lpstr>titillium_webregular</vt:lpstr>
      <vt:lpstr>Wingdings</vt:lpstr>
      <vt:lpstr>Tema de Office</vt:lpstr>
      <vt:lpstr>Manipulación y Visualizaciones de Datos</vt:lpstr>
      <vt:lpstr>Presentación de PowerPoint</vt:lpstr>
      <vt:lpstr>Presentación de PowerPoint</vt:lpstr>
      <vt:lpstr>REGLAS</vt:lpstr>
      <vt:lpstr>https://forms.gle/Xxg9B6LVojUQQKVs8</vt:lpstr>
      <vt:lpstr>Meetup - Padlet</vt:lpstr>
      <vt:lpstr>Presentación de PowerPoint</vt:lpstr>
      <vt:lpstr>GRUPOS</vt:lpstr>
      <vt:lpstr>Grupos</vt:lpstr>
      <vt:lpstr>Intro Python</vt:lpstr>
      <vt:lpstr>¿Qué es Python ?</vt:lpstr>
      <vt:lpstr>El creador de Python</vt:lpstr>
      <vt:lpstr>Links de Interés</vt:lpstr>
      <vt:lpstr>¿ Quienes usan Python ?</vt:lpstr>
      <vt:lpstr>¿ Quienes lo usan ?</vt:lpstr>
      <vt:lpstr>¿ Quienes lo usan ?</vt:lpstr>
      <vt:lpstr>¿ Quienes lo usan ?</vt:lpstr>
      <vt:lpstr>¿ Quienes lo usan ?</vt:lpstr>
      <vt:lpstr>¿ Quienes lo usan ?</vt:lpstr>
      <vt:lpstr>Presentación de PowerPoint</vt:lpstr>
      <vt:lpstr>Links de Interés</vt:lpstr>
      <vt:lpstr>Vamos a escribir código</vt:lpstr>
      <vt:lpstr>Enlaces de interés</vt:lpstr>
      <vt:lpstr>Análisis de datos</vt:lpstr>
      <vt:lpstr>Análisis de datos - Una analogía</vt:lpstr>
      <vt:lpstr>Análisis de datos - Una analogía</vt:lpstr>
      <vt:lpstr>¿Qué es el análisis de datos ( Data Analysis )?</vt:lpstr>
      <vt:lpstr>Data Analysis y Pandas</vt:lpstr>
      <vt:lpstr>Pandas</vt:lpstr>
      <vt:lpstr>Introducción PANDAS</vt:lpstr>
      <vt:lpstr>¿ Qué es un Dataframe | qué es una Serie ?</vt:lpstr>
      <vt:lpstr>Intro Pandas</vt:lpstr>
      <vt:lpstr>PANDAS -Ejercicio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Roberto Esteves</dc:creator>
  <cp:lastModifiedBy>Roberto Esteves</cp:lastModifiedBy>
  <cp:revision>127</cp:revision>
  <dcterms:created xsi:type="dcterms:W3CDTF">2021-08-04T16:00:10Z</dcterms:created>
  <dcterms:modified xsi:type="dcterms:W3CDTF">2026-01-29T21:44:39Z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